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61" r:id="rId3"/>
    <p:sldId id="263" r:id="rId4"/>
  </p:sldIdLst>
  <p:sldSz cx="9144000" cy="6858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3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6E93F-41C8-4F0E-B43D-814607D3A114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1AE8-D5CE-44E5-87E3-E91974F0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5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0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9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4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1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8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0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5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9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7FEED-F9BE-4701-B80D-79BBCA92FAAC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7CBB4-D424-4CA5-8E85-2AB805AA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1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microsoft.com/office/2007/relationships/hdphoto" Target="../media/hdphoto4.wdp"/><Relationship Id="rId18" Type="http://schemas.openxmlformats.org/officeDocument/2006/relationships/image" Target="../media/image11.png"/><Relationship Id="rId26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13.png"/><Relationship Id="rId34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microsoft.com/office/2007/relationships/hdphoto" Target="../media/hdphoto6.wdp"/><Relationship Id="rId25" Type="http://schemas.openxmlformats.org/officeDocument/2006/relationships/image" Target="../media/image17.png"/><Relationship Id="rId33" Type="http://schemas.microsoft.com/office/2007/relationships/hdphoto" Target="../media/hdphoto9.wdp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24" Type="http://schemas.openxmlformats.org/officeDocument/2006/relationships/image" Target="../media/image16.png"/><Relationship Id="rId32" Type="http://schemas.openxmlformats.org/officeDocument/2006/relationships/image" Target="../media/image23.png"/><Relationship Id="rId5" Type="http://schemas.microsoft.com/office/2007/relationships/hdphoto" Target="../media/hdphoto1.wdp"/><Relationship Id="rId15" Type="http://schemas.microsoft.com/office/2007/relationships/hdphoto" Target="../media/hdphoto5.wdp"/><Relationship Id="rId23" Type="http://schemas.openxmlformats.org/officeDocument/2006/relationships/image" Target="../media/image15.png"/><Relationship Id="rId28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microsoft.com/office/2007/relationships/hdphoto" Target="../media/hdphoto7.wdp"/><Relationship Id="rId31" Type="http://schemas.microsoft.com/office/2007/relationships/hdphoto" Target="../media/hdphoto8.wdp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9.png"/><Relationship Id="rId22" Type="http://schemas.openxmlformats.org/officeDocument/2006/relationships/image" Target="../media/image14.png"/><Relationship Id="rId27" Type="http://schemas.openxmlformats.org/officeDocument/2006/relationships/image" Target="../media/image19.png"/><Relationship Id="rId30" Type="http://schemas.openxmlformats.org/officeDocument/2006/relationships/image" Target="../media/image22.png"/><Relationship Id="rId8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microsoft.com/office/2007/relationships/hdphoto" Target="../media/hdphoto2.wdp"/><Relationship Id="rId26" Type="http://schemas.microsoft.com/office/2007/relationships/hdphoto" Target="../media/hdphoto11.wdp"/><Relationship Id="rId39" Type="http://schemas.openxmlformats.org/officeDocument/2006/relationships/image" Target="../media/image48.png"/><Relationship Id="rId21" Type="http://schemas.openxmlformats.org/officeDocument/2006/relationships/image" Target="../media/image23.png"/><Relationship Id="rId34" Type="http://schemas.microsoft.com/office/2007/relationships/hdphoto" Target="../media/hdphoto14.wdp"/><Relationship Id="rId42" Type="http://schemas.microsoft.com/office/2007/relationships/hdphoto" Target="../media/hdphoto6.wdp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microsoft.com/office/2007/relationships/hdphoto" Target="../media/hdphoto10.wdp"/><Relationship Id="rId32" Type="http://schemas.microsoft.com/office/2007/relationships/hdphoto" Target="../media/hdphoto13.wdp"/><Relationship Id="rId37" Type="http://schemas.openxmlformats.org/officeDocument/2006/relationships/image" Target="../media/image47.png"/><Relationship Id="rId40" Type="http://schemas.microsoft.com/office/2007/relationships/hdphoto" Target="../media/hdphoto17.wdp"/><Relationship Id="rId45" Type="http://schemas.openxmlformats.org/officeDocument/2006/relationships/image" Target="../media/image2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0.png"/><Relationship Id="rId28" Type="http://schemas.microsoft.com/office/2007/relationships/hdphoto" Target="../media/hdphoto12.wdp"/><Relationship Id="rId36" Type="http://schemas.microsoft.com/office/2007/relationships/hdphoto" Target="../media/hdphoto15.wdp"/><Relationship Id="rId10" Type="http://schemas.openxmlformats.org/officeDocument/2006/relationships/image" Target="../media/image33.png"/><Relationship Id="rId19" Type="http://schemas.openxmlformats.org/officeDocument/2006/relationships/image" Target="../media/image22.png"/><Relationship Id="rId31" Type="http://schemas.openxmlformats.org/officeDocument/2006/relationships/image" Target="../media/image44.png"/><Relationship Id="rId44" Type="http://schemas.microsoft.com/office/2007/relationships/hdphoto" Target="../media/hdphoto3.wdp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microsoft.com/office/2007/relationships/hdphoto" Target="../media/hdphoto9.wdp"/><Relationship Id="rId27" Type="http://schemas.openxmlformats.org/officeDocument/2006/relationships/image" Target="../media/image42.png"/><Relationship Id="rId30" Type="http://schemas.microsoft.com/office/2007/relationships/hdphoto" Target="../media/hdphoto1.wdp"/><Relationship Id="rId35" Type="http://schemas.openxmlformats.org/officeDocument/2006/relationships/image" Target="../media/image46.png"/><Relationship Id="rId43" Type="http://schemas.openxmlformats.org/officeDocument/2006/relationships/image" Target="../media/image21.png"/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12" Type="http://schemas.openxmlformats.org/officeDocument/2006/relationships/image" Target="../media/image35.png"/><Relationship Id="rId17" Type="http://schemas.openxmlformats.org/officeDocument/2006/relationships/image" Target="../media/image5.png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38" Type="http://schemas.microsoft.com/office/2007/relationships/hdphoto" Target="../media/hdphoto16.wdp"/><Relationship Id="rId20" Type="http://schemas.microsoft.com/office/2007/relationships/hdphoto" Target="../media/hdphoto8.wdp"/><Relationship Id="rId4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11.png"/><Relationship Id="rId26" Type="http://schemas.openxmlformats.org/officeDocument/2006/relationships/image" Target="../media/image40.png"/><Relationship Id="rId39" Type="http://schemas.openxmlformats.org/officeDocument/2006/relationships/image" Target="../media/image64.png"/><Relationship Id="rId21" Type="http://schemas.microsoft.com/office/2007/relationships/hdphoto" Target="../media/hdphoto3.wdp"/><Relationship Id="rId34" Type="http://schemas.openxmlformats.org/officeDocument/2006/relationships/image" Target="../media/image63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6" Type="http://schemas.openxmlformats.org/officeDocument/2006/relationships/image" Target="../media/image4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48.png"/><Relationship Id="rId32" Type="http://schemas.openxmlformats.org/officeDocument/2006/relationships/image" Target="../media/image22.png"/><Relationship Id="rId37" Type="http://schemas.microsoft.com/office/2007/relationships/hdphoto" Target="../media/hdphoto2.wdp"/><Relationship Id="rId40" Type="http://schemas.microsoft.com/office/2007/relationships/hdphoto" Target="../media/hdphoto19.wdp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microsoft.com/office/2007/relationships/hdphoto" Target="../media/hdphoto12.wdp"/><Relationship Id="rId28" Type="http://schemas.openxmlformats.org/officeDocument/2006/relationships/image" Target="../media/image43.png"/><Relationship Id="rId36" Type="http://schemas.openxmlformats.org/officeDocument/2006/relationships/image" Target="../media/image5.png"/><Relationship Id="rId10" Type="http://schemas.openxmlformats.org/officeDocument/2006/relationships/image" Target="../media/image57.png"/><Relationship Id="rId19" Type="http://schemas.microsoft.com/office/2007/relationships/hdphoto" Target="../media/hdphoto7.wdp"/><Relationship Id="rId31" Type="http://schemas.microsoft.com/office/2007/relationships/hdphoto" Target="../media/hdphoto14.wdp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42.png"/><Relationship Id="rId27" Type="http://schemas.microsoft.com/office/2007/relationships/hdphoto" Target="../media/hdphoto10.wdp"/><Relationship Id="rId30" Type="http://schemas.openxmlformats.org/officeDocument/2006/relationships/image" Target="../media/image45.png"/><Relationship Id="rId35" Type="http://schemas.microsoft.com/office/2007/relationships/hdphoto" Target="../media/hdphoto18.wdp"/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12" Type="http://schemas.openxmlformats.org/officeDocument/2006/relationships/image" Target="../media/image59.png"/><Relationship Id="rId17" Type="http://schemas.microsoft.com/office/2007/relationships/hdphoto" Target="../media/hdphoto16.wdp"/><Relationship Id="rId25" Type="http://schemas.microsoft.com/office/2007/relationships/hdphoto" Target="../media/hdphoto17.wdp"/><Relationship Id="rId33" Type="http://schemas.microsoft.com/office/2007/relationships/hdphoto" Target="../media/hdphoto8.wdp"/><Relationship Id="rId3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92CE384-0366-6EEF-92AB-F183FB97F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0" y="16078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DF0A069-CDB0-8A3B-C242-9728EAF52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440499"/>
              </p:ext>
            </p:extLst>
          </p:nvPr>
        </p:nvGraphicFramePr>
        <p:xfrm>
          <a:off x="304800" y="288677"/>
          <a:ext cx="8562973" cy="606174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9614068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4246790594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75491432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592777506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943972353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925099518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809052679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1410492492"/>
                    </a:ext>
                  </a:extLst>
                </a:gridCol>
                <a:gridCol w="2114548">
                  <a:extLst>
                    <a:ext uri="{9D8B030D-6E8A-4147-A177-3AD203B41FA5}">
                      <a16:colId xmlns:a16="http://schemas.microsoft.com/office/drawing/2014/main" val="4181612853"/>
                    </a:ext>
                  </a:extLst>
                </a:gridCol>
              </a:tblGrid>
              <a:tr h="468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Original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Hebrew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Later Hebrew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Modern Aramaic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Sounds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Picture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Common Letter Meanings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Closest Hebrew Word(s), with Strongs #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0">
                          <a:solidFill>
                            <a:sysClr val="windowText" lastClr="000000"/>
                          </a:solidFill>
                          <a:latin typeface="+mn-lt"/>
                        </a:rPr>
                        <a:t>Sample Use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348659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א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Alef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A, E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Bull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Chief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Leader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Strong, strength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Eleph (H504): oxen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GOD (“EL” in Hebrew) is the Chief Shepherd  (1 Peter 5:4).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E (alef) = Chief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L (lamed) = Shepherd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86752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ב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B, V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Father’s House  (temple)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In, inside, within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House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Father’s house (temple)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Bayit (H1004):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YHVH’s temple, a house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The letter Bet        is used as a prefix all throughout the scriptures to mean “in.”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063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ג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Gimmel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Camel Foot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Lift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Walk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Strength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Ability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Gamal (H1581): camel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Pride (“geeh” in Hebrew) is lifting up the horn of man. 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G (gimmel) = lift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E (alef) = horn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H (hey) = man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0621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ד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Dalet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Tent Door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Door, gate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Move, movement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Low, hanging down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Delet (H1817):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door, gate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When the sole of a foot is lowered down, a thing is crushed (“dak” in Hebrew).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D (dalet) = lower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K (kaf) = sole of foot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079967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ה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H, 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-ah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Man With Arms Raised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Look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Lo, behold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The, this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Reveal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Man, mankind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Existence, life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 (H1887): behold, lo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The word for mountain (“har” in Hebrew) is a picture of beholding the top.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H (hey) = behold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R (resh) = top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03790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ו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Vav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Hook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And, with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join things together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Vav (H2053):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tabernacle hook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The letter Vav         is used as a prefix all throughout the scriptures to mean “and.”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2459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ז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Zayin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Plow’s Edge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Shake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Make ready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Overturn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n.a.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An olive tree (“zayit” in Hebrew) is manually harvested by a strong shaking.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Z (zayin) = shake 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Y (yod) = arm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 (tav) = strong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84702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ח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Chet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Ch, 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-ach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Wall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Wall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End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Obstruction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Outside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Chet (H2399): sin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Chatam (H2856):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seal (shut)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The Hebrew word for “outcast” is “dachah.” It’s a picture of a man being moved outside.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D (dalet) = moved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Ch (chet) = outside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H (hey) = man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4655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93CAD09-E839-52D9-2041-1EA13CD4F6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403297" y="1493662"/>
            <a:ext cx="374912" cy="322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D72B23-6188-04AC-2EE6-DDF9C20E9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4" t="9645" r="8668" b="68591"/>
          <a:stretch/>
        </p:blipFill>
        <p:spPr>
          <a:xfrm>
            <a:off x="394937" y="817908"/>
            <a:ext cx="438150" cy="463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55B4BC-4466-2CD2-4E2E-67CCA3C9B6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 t="12875" r="39944" b="66794"/>
          <a:stretch/>
        </p:blipFill>
        <p:spPr>
          <a:xfrm>
            <a:off x="403297" y="2048484"/>
            <a:ext cx="374912" cy="4627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AC5F44-2A9C-B820-F147-CBFE05DA4E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4" t="9645" r="8668" b="68591"/>
          <a:stretch/>
        </p:blipFill>
        <p:spPr>
          <a:xfrm>
            <a:off x="8350743" y="1027747"/>
            <a:ext cx="227335" cy="2402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7967D2-9789-E32D-A601-D1BEABEB3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065" y="1064976"/>
            <a:ext cx="183678" cy="18486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935B08-CCB8-68F0-DB01-3B04327908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4" t="9645" r="8668" b="68591"/>
          <a:stretch/>
        </p:blipFill>
        <p:spPr>
          <a:xfrm>
            <a:off x="8220145" y="2222525"/>
            <a:ext cx="227335" cy="2402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9DF986-54C0-FCBC-5BBB-C14C9A4CD1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050" b="31150" l="50167" r="76067">
                        <a14:foregroundMark x1="76067" y1="12050" x2="76067" y2="12050"/>
                        <a14:foregroundMark x1="74700" y1="12050" x2="74700" y2="120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074" t="12875" r="39944" b="66794"/>
          <a:stretch/>
        </p:blipFill>
        <p:spPr>
          <a:xfrm>
            <a:off x="8412099" y="2222525"/>
            <a:ext cx="229560" cy="2833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F322788-6656-82F0-A92A-DB7A714EE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755" y="3528260"/>
            <a:ext cx="374912" cy="4009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5B14C4E-6E2D-FF05-11B7-AC78A1D1BB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5520" y="2222525"/>
            <a:ext cx="224699" cy="2402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C668427-3809-A6D9-05E2-BF3D5441F6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95759" y="3800519"/>
            <a:ext cx="224699" cy="2402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84680BF-8837-C870-7D23-F60C7613E5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581" y="3800519"/>
            <a:ext cx="196178" cy="240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589C4B-FFCF-8F6A-5993-DFF08C9C0A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75000" y1="53061" x2="75000" y2="53061"/>
                        <a14:foregroundMark x1="61990" y1="30867" x2="61990" y2="30867"/>
                        <a14:foregroundMark x1="50255" y1="45408" x2="50255" y2="45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625" y="2664756"/>
            <a:ext cx="484668" cy="48466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2627C87-9C41-D368-DA5B-A1B891A571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27" y="4256661"/>
            <a:ext cx="375928" cy="4009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0A5F890-1CD7-1C9B-5869-6CAD2EC8BA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298" b="89735" l="10000" r="90000">
                        <a14:foregroundMark x1="18542" y1="41060" x2="18542" y2="41060"/>
                        <a14:foregroundMark x1="17917" y1="43709" x2="17917" y2="43709"/>
                        <a14:foregroundMark x1="30208" y1="89735" x2="30208" y2="89735"/>
                        <a14:foregroundMark x1="48333" y1="56954" x2="48333" y2="56954"/>
                        <a14:foregroundMark x1="71667" y1="5298" x2="71667" y2="52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616" y="4920092"/>
            <a:ext cx="448260" cy="28203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98319EB-AB66-B820-D112-F55DE41213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298" b="89735" l="10000" r="90000">
                        <a14:foregroundMark x1="18542" y1="41060" x2="18542" y2="41060"/>
                        <a14:foregroundMark x1="17917" y1="43709" x2="17917" y2="43709"/>
                        <a14:foregroundMark x1="30208" y1="89735" x2="30208" y2="89735"/>
                        <a14:foregroundMark x1="48333" y1="56954" x2="48333" y2="56954"/>
                        <a14:foregroundMark x1="71667" y1="5298" x2="71667" y2="52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0772" y="5148507"/>
            <a:ext cx="224699" cy="14137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8BF403E-17A2-B4C2-956F-05583635A29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28859" y="5135834"/>
            <a:ext cx="270167" cy="16736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3A701A6-A62E-943F-DCF8-39C9D16A14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726" b="95262" l="9607" r="89520">
                        <a14:foregroundMark x1="72489" y1="38155" x2="72489" y2="38155"/>
                        <a14:foregroundMark x1="75983" y1="37656" x2="75983" y2="37656"/>
                        <a14:foregroundMark x1="49782" y1="92269" x2="49782" y2="92269"/>
                        <a14:foregroundMark x1="45852" y1="95262" x2="45852" y2="952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1578" y="5053426"/>
            <a:ext cx="161059" cy="282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16E4AF-3236-3E32-0491-3B4CE179C86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1568" y="904599"/>
            <a:ext cx="313135" cy="349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452206-E8B0-9295-27E0-5645AB47EA5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340" y="1482263"/>
            <a:ext cx="297897" cy="371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AB39AB-D909-D811-7D95-AA55C782C19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887" y="2124618"/>
            <a:ext cx="297897" cy="310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958EDD-6A9B-9625-C16C-6977AA45966F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14992" b="19627"/>
          <a:stretch/>
        </p:blipFill>
        <p:spPr>
          <a:xfrm>
            <a:off x="1063625" y="2826559"/>
            <a:ext cx="275410" cy="269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5B4217-0490-B943-9FE9-2429B40600D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6273" y="3576328"/>
            <a:ext cx="274818" cy="320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CA6C9D-99E6-BA2B-18FB-7B991FE97EE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3625" y="4351500"/>
            <a:ext cx="229009" cy="2818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7275B7-87D6-6A83-FB9A-62308538D41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0062" y="4878689"/>
            <a:ext cx="318546" cy="3407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078B9B-AA36-5A00-2622-A95B014395B8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5308" r="1432"/>
          <a:stretch/>
        </p:blipFill>
        <p:spPr>
          <a:xfrm>
            <a:off x="346997" y="5764816"/>
            <a:ext cx="515205" cy="2665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12D977-9AF1-B778-0C2F-77E543D70AF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0062" y="5764816"/>
            <a:ext cx="283215" cy="3106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34DD1C-D01F-63BC-EBA9-EC9224BF5EB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75000" y1="53061" x2="75000" y2="53061"/>
                        <a14:foregroundMark x1="61990" y1="30867" x2="61990" y2="30867"/>
                        <a14:foregroundMark x1="50255" y1="45408" x2="50255" y2="45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30510" y="2934959"/>
            <a:ext cx="240285" cy="2402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D06C3C-A982-0DE5-2199-D166D1EE89D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10000" r="90000">
                        <a14:foregroundMark x1="35909" y1="89688" x2="35909" y2="89688"/>
                        <a14:foregroundMark x1="49091" y1="70625" x2="49091" y2="70625"/>
                        <a14:foregroundMark x1="71364" y1="61250" x2="71364" y2="61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3203" y="2964512"/>
            <a:ext cx="257498" cy="187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997F4B-93B2-E601-BC29-1C83E7B3443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75000" y1="53061" x2="75000" y2="53061"/>
                        <a14:foregroundMark x1="61990" y1="30867" x2="61990" y2="30867"/>
                        <a14:foregroundMark x1="50255" y1="45408" x2="50255" y2="45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5391" y="5938118"/>
            <a:ext cx="240285" cy="240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98CB51-C8E7-3755-EC48-37917B9E55CE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4634" r="89242"/>
                    </a14:imgEffect>
                  </a14:imgLayer>
                </a14:imgProps>
              </a:ext>
            </a:extLst>
          </a:blip>
          <a:srcRect l="5308" r="1432"/>
          <a:stretch/>
        </p:blipFill>
        <p:spPr>
          <a:xfrm>
            <a:off x="8130278" y="5984988"/>
            <a:ext cx="283216" cy="146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B2AB6E-67C0-8F15-6044-514C1EB9B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739" y="5955838"/>
            <a:ext cx="224699" cy="2402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3446D5-67F0-BFA1-9285-EAE202183DB9}"/>
              </a:ext>
            </a:extLst>
          </p:cNvPr>
          <p:cNvSpPr txBox="1"/>
          <p:nvPr/>
        </p:nvSpPr>
        <p:spPr>
          <a:xfrm>
            <a:off x="304801" y="6416028"/>
            <a:ext cx="85629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Free Download at www.fathersalphabet.com        Public Domain | Page 1         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00593C-57BE-94D4-9A8C-C273238A7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7494659" y="1475522"/>
            <a:ext cx="153916" cy="1323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6EB55C6-DA9F-6477-4F0E-0F33D7D073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4659" y="4256661"/>
            <a:ext cx="187964" cy="2004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1D774-48A9-A741-88F4-6D5FA87543A3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889" y="6459514"/>
            <a:ext cx="156096" cy="1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6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DF0A069-CDB0-8A3B-C242-9728EAF52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70361"/>
              </p:ext>
            </p:extLst>
          </p:nvPr>
        </p:nvGraphicFramePr>
        <p:xfrm>
          <a:off x="304800" y="290818"/>
          <a:ext cx="8562973" cy="603626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9614068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4246790594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754914324"/>
                    </a:ext>
                  </a:extLst>
                </a:gridCol>
                <a:gridCol w="606609">
                  <a:extLst>
                    <a:ext uri="{9D8B030D-6E8A-4147-A177-3AD203B41FA5}">
                      <a16:colId xmlns:a16="http://schemas.microsoft.com/office/drawing/2014/main" val="2592777506"/>
                    </a:ext>
                  </a:extLst>
                </a:gridCol>
                <a:gridCol w="536548">
                  <a:extLst>
                    <a:ext uri="{9D8B030D-6E8A-4147-A177-3AD203B41FA5}">
                      <a16:colId xmlns:a16="http://schemas.microsoft.com/office/drawing/2014/main" val="3943972353"/>
                    </a:ext>
                  </a:extLst>
                </a:gridCol>
                <a:gridCol w="733268">
                  <a:extLst>
                    <a:ext uri="{9D8B030D-6E8A-4147-A177-3AD203B41FA5}">
                      <a16:colId xmlns:a16="http://schemas.microsoft.com/office/drawing/2014/main" val="925099518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809052679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1410492492"/>
                    </a:ext>
                  </a:extLst>
                </a:gridCol>
                <a:gridCol w="2114548">
                  <a:extLst>
                    <a:ext uri="{9D8B030D-6E8A-4147-A177-3AD203B41FA5}">
                      <a16:colId xmlns:a16="http://schemas.microsoft.com/office/drawing/2014/main" val="4181612853"/>
                    </a:ext>
                  </a:extLst>
                </a:gridCol>
              </a:tblGrid>
              <a:tr h="468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Original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Hebrew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Later Hebrew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Modern Aramaic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Sounds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Picture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Common Letter Meanings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Closest Hebrew Word(s), with Strongs #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0">
                          <a:solidFill>
                            <a:sysClr val="windowText" lastClr="000000"/>
                          </a:solidFill>
                          <a:latin typeface="+mn-lt"/>
                        </a:rPr>
                        <a:t>Sample Use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348659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ט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Container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Surround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Store, keep, contain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Cover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Gather together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Teet (H2916):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mud, mire, clay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To trust in Hebrew (“batach”) is a picture of being inside a surrounding wall.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B (bet) = inside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 (tet) = surrounding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Ch (chet) = wall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063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Yod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Hand and Arm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Work, do, m</a:t>
                      </a: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ake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Hand, arm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Help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Power, authority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Yad (H3028):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hand, power, authority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The Hebrew word for knowing is “yada.” </a:t>
                      </a:r>
                      <a:b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YAD (arm) = make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 (ayin) = known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0621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כך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Kaf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K, Kh,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-akh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Palm of Hand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Hand, palm of hand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Sole of foot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Crush, grip, grasp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Subjugate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Cover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Kaph (H3709):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hand, palm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To walk (“halak” in Hebrew) is a picture of a staff in the palm of one’s hand.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H (hey) = man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L (lamed) = staff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K (kaph) = palm of hand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079967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ל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Lamed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Shepherd’s Staff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Staff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Lead, guide, teach Protect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To, toward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Lamed (from H3925): teach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To those who are His, HE gives a new heart (“leb”) and a new spirit so we can follow His ways.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L (lamed) = teacher/guide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B (bet) = inside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03790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מם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Mem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Water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Waters, sea, drink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Tumult, upheaval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Lift up (like waves)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unknown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Many, people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Mayim (H4325): waters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Rain (“matar” in Hebrew) is a picture of water surrounding the head.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M (mem) = water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 (tet) = surrounds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R (resh) = head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2459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נן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Nachash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Serpent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Reflective, shiny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GOD-given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Life (as something GOD’s light shines on)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Spiritual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Serpent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Nachash (H5175): 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serpent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 snakebite (“nashak” in Hebrew) is a picture of a snake’s teeth crushing.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N (nachash) = snake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Sh (shin) = teeth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K (kaf) = crush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20786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 i="1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ס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Samek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Barb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Hold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Establish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Prevent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Turn 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Samak (H5564): uphold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 book (“sepher” in Hebrew) is used to hold the sayings of men.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S (samek) = hold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P (peh) = saying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R (resh) = man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481575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35D1F795-64AC-D3D2-2766-1FDBADD1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38" y="980026"/>
            <a:ext cx="416199" cy="3639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93CC918-77B1-033E-0272-0C100B9E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97" y="1716680"/>
            <a:ext cx="467453" cy="2726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F6EC43-476F-81BE-C826-F00506DB3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36" y="2465136"/>
            <a:ext cx="451052" cy="32803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21DD91-96D4-DF39-AD72-1F416E85C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09" y="3198959"/>
            <a:ext cx="383119" cy="4209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C6C4774-9DBC-C723-C9A0-C4F5FC853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336" y="1075520"/>
            <a:ext cx="251185" cy="26842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871DE70-9728-6045-A74C-9C0B2FDA7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976" y="1715893"/>
            <a:ext cx="279545" cy="27346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C20B96A-E7AF-EED8-06D4-8C719D7A7B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283" y="2522191"/>
            <a:ext cx="182770" cy="24902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094E8D1-F94D-5A5C-BF5B-B6E00AEF6E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567" y="3268720"/>
            <a:ext cx="254486" cy="2890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E49E15A-E93F-8C8A-909C-41A3A94FEE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795" y="4064827"/>
            <a:ext cx="325112" cy="34647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4EAD6AA-6A2B-F3FE-6215-AD1A6DE9A00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08"/>
          <a:stretch/>
        </p:blipFill>
        <p:spPr>
          <a:xfrm>
            <a:off x="330994" y="4000850"/>
            <a:ext cx="496927" cy="32803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07E8731-EA09-FF48-56B2-AB38DB0DC1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97" y="4809438"/>
            <a:ext cx="389181" cy="54927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1A4C7CB-D657-3865-417A-09D660CECF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553" y="4896559"/>
            <a:ext cx="317639" cy="43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30CAB6-9629-1ACA-D8A9-BAEA0411F6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553" y="5768342"/>
            <a:ext cx="343185" cy="385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7F4CA-238F-97D7-938C-DB9E232F5A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886" y="5732228"/>
            <a:ext cx="373306" cy="4147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80AF24-C3B7-47B7-0022-9944E5F030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0153" y="2662065"/>
            <a:ext cx="183678" cy="1848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FD7CC9-F9A5-F91D-2050-B5443A76D6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1102" y="2651072"/>
            <a:ext cx="224699" cy="240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37E326-5947-EA49-024C-D893D555D91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35909" y1="89688" x2="35909" y2="89688"/>
                        <a14:foregroundMark x1="49091" y1="70625" x2="49091" y2="70625"/>
                        <a14:foregroundMark x1="71364" y1="61250" x2="71364" y2="61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0701" y="2644713"/>
            <a:ext cx="291907" cy="212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24214E-158B-A444-824C-E66CCC7BAC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9773" y="3465365"/>
            <a:ext cx="183678" cy="184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8AB034-CB51-ABB7-F5AF-D61BED0D554B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000" b="90000" l="14634" r="89242"/>
                    </a14:imgEffect>
                  </a14:imgLayer>
                </a14:imgProps>
              </a:ext>
            </a:extLst>
          </a:blip>
          <a:srcRect l="5308" r="1432"/>
          <a:stretch/>
        </p:blipFill>
        <p:spPr>
          <a:xfrm>
            <a:off x="7854523" y="1208923"/>
            <a:ext cx="317348" cy="164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B90BAD-3447-C333-6A08-E418D08162B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54523" y="4238062"/>
            <a:ext cx="196178" cy="2402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1DF1B7-89CD-8EC4-6F83-959192BC4D2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35909" y1="89688" x2="35909" y2="89688"/>
                        <a14:foregroundMark x1="49091" y1="70625" x2="49091" y2="70625"/>
                        <a14:foregroundMark x1="71364" y1="61250" x2="71364" y2="61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8260" y="5152664"/>
            <a:ext cx="251205" cy="1826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594C74-B0F2-7BC2-1EE0-202DAA04FE6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4133" y="5960920"/>
            <a:ext cx="196178" cy="2402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2EEB5F-C974-D2A1-A7E2-D8BEC8BB6D5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9577" b="94366" l="9606" r="89655">
                        <a14:foregroundMark x1="71921" y1="84507" x2="71921" y2="84507"/>
                        <a14:foregroundMark x1="62315" y1="91831" x2="62315" y2="91831"/>
                        <a14:foregroundMark x1="39409" y1="94366" x2="39409" y2="943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9915" y="4227203"/>
            <a:ext cx="242796" cy="2122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806BC1-3CC3-13B6-4A71-AC3AD7D6442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4507" r="90501"/>
                    </a14:imgEffect>
                  </a14:imgLayer>
                </a14:imgProps>
              </a:ext>
            </a:extLst>
          </a:blip>
          <a:srcRect l="5008"/>
          <a:stretch/>
        </p:blipFill>
        <p:spPr>
          <a:xfrm>
            <a:off x="8275559" y="4240235"/>
            <a:ext cx="321596" cy="2122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4414C4-D206-7D0C-1F54-4867D775EE1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4537" b="29126" l="61402" r="727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8377462" y="1191255"/>
            <a:ext cx="232024" cy="1995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85B65F-9A5A-7BE9-2E03-E84EDB0FCFA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9577" b="94366" l="9606" r="89655">
                        <a14:foregroundMark x1="71921" y1="84507" x2="71921" y2="84507"/>
                        <a14:foregroundMark x1="62315" y1="91831" x2="62315" y2="91831"/>
                        <a14:foregroundMark x1="39409" y1="94366" x2="39409" y2="943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9467" y="1177386"/>
            <a:ext cx="225347" cy="1970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B1F1BF-450F-EE3C-0779-1F33D6B4543D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4537" b="29126" l="61402" r="727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8135451" y="3463674"/>
            <a:ext cx="246856" cy="2122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E97FF9-3901-71B5-3259-13AF9347BC5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7621" y="5124147"/>
            <a:ext cx="169856" cy="239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9497DD-9015-ABDD-1851-08D2EDB73F5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8955" r="89801">
                        <a14:foregroundMark x1="8955" y1="33333" x2="8955" y2="3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7648" y="5175864"/>
            <a:ext cx="242796" cy="1630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2303B6-FF87-4020-D2D5-44A74BB44C7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4107" y="5941203"/>
            <a:ext cx="225379" cy="2504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15B37F-B54F-F7B5-B624-2E33BA46D55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ackgroundRemoval t="9778" b="89778" l="7752" r="91473">
                        <a14:foregroundMark x1="81008" y1="51111" x2="81008" y2="51111"/>
                        <a14:foregroundMark x1="7752" y1="61333" x2="7752" y2="61333"/>
                        <a14:foregroundMark x1="91473" y1="57333" x2="91473" y2="5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92774" y="5992127"/>
            <a:ext cx="314847" cy="1372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41724B-9783-C57F-56FD-BC602D5E1C6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ackgroundRemoval t="9864" b="89796" l="6792" r="89930">
                        <a14:foregroundMark x1="9133" y1="64286" x2="9133" y2="64286"/>
                        <a14:foregroundMark x1="6792" y1="55102" x2="6792" y2="55102"/>
                        <a14:foregroundMark x1="12646" y1="48299" x2="12646" y2="482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91839" y="1888982"/>
            <a:ext cx="289474" cy="1993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E9702E-3DEF-00DB-D866-B4961CFD838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4107" y="1901558"/>
            <a:ext cx="270167" cy="16736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41345B9-8044-57D9-CC7B-7F8FB162A4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75000" y1="53061" x2="75000" y2="53061"/>
                        <a14:foregroundMark x1="61990" y1="30867" x2="61990" y2="30867"/>
                        <a14:foregroundMark x1="50255" y1="45408" x2="50255" y2="45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63144" y="1852905"/>
            <a:ext cx="240384" cy="2403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834FF9-4312-BED4-1473-08AF6D7E5D47}"/>
              </a:ext>
            </a:extLst>
          </p:cNvPr>
          <p:cNvSpPr txBox="1"/>
          <p:nvPr/>
        </p:nvSpPr>
        <p:spPr>
          <a:xfrm>
            <a:off x="304799" y="6434534"/>
            <a:ext cx="85629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Free Download at www.fathersalphabet.com        Public Domain | Page 2          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682819-A657-A99A-E3F0-14504D5A56CB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239" y="6478020"/>
            <a:ext cx="156096" cy="1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5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DF0A069-CDB0-8A3B-C242-9728EAF52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76206"/>
              </p:ext>
            </p:extLst>
          </p:nvPr>
        </p:nvGraphicFramePr>
        <p:xfrm>
          <a:off x="304800" y="343116"/>
          <a:ext cx="8562973" cy="59589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9614068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4246790594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75491432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592777506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943972353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925099518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809052679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1410492492"/>
                    </a:ext>
                  </a:extLst>
                </a:gridCol>
                <a:gridCol w="2114548">
                  <a:extLst>
                    <a:ext uri="{9D8B030D-6E8A-4147-A177-3AD203B41FA5}">
                      <a16:colId xmlns:a16="http://schemas.microsoft.com/office/drawing/2014/main" val="4181612853"/>
                    </a:ext>
                  </a:extLst>
                </a:gridCol>
              </a:tblGrid>
              <a:tr h="468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Original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Hebrew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Later Hebrew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Modern Aramaic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Sounds</a:t>
                      </a: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Picture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Common Letter Meanings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Closest Hebrew Word(s), with Strongs #</a:t>
                      </a:r>
                      <a:endParaRPr lang="en-US" sz="1000" i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0">
                          <a:solidFill>
                            <a:sysClr val="windowText" lastClr="000000"/>
                          </a:solidFill>
                          <a:latin typeface="+mn-lt"/>
                        </a:rPr>
                        <a:t>Sample Use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348659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ע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Ayin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A, E, O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Eye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Eye, sight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Knowledge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Understanding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Perception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Ayin (H5869): eye, sight,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appearance, knowledge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Weeping (“dama” in Hebrew) is the movement of water from the eyes.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D (dalet) = move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M (mem) = water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 (ayin) = eye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0621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פף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Mouth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Mouth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Open, opening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Edge, rim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Saying, command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Peh (H6310): mouth, edge, opening, command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A morsel (“pat” in Hebrew) indicates a mouthful of something.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P (peh) = mouth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 (tav) = indicator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079967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צץ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Tsade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Ts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Man on His Side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Lie in wait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Lay down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Wait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Side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Tsad (H6654): side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Tsud (H6679): hunt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Tsadah </a:t>
                      </a: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(H6658)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lie in wait 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adversary (“tsar” in Hebrew) lies in wait for man.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Ts (tsade) = lie in wait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 (resh) = man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03790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ק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Quf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 Sun at the Horizon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Circuit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Sun, day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Line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Encompass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Gather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Tequphah (H8622): </a:t>
                      </a:r>
                      <a:b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turn, circuit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Naqaph (H5362): encompass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word for assembly in Hebrew is “qahal.” It’s a picture of men gathering to the staff.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 (quf) = gather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 (hey) = man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 (lamed) = staff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24594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ר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Head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Head 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Chief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Top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First, beginning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Rosh (H7218):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head, top, chief, beginning</a:t>
                      </a:r>
                      <a:endParaRPr lang="en-US" sz="1000" b="1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word for high, exalted, and tall in Hebrew is “rum.” It’s a picture of a lifted head.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 (resh) = head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 (mem) = lifted (like waves of water)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84702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ש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Shin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Sh, S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Teeth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Teeth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Eat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Front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Consume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Destroy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Shin (H8127): 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tooth, teeth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To repent (“shub” in Hebrew) is to face Father’s House.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Sh (shin) = face frontward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cs typeface="Arial" panose="020B0604020202020204" pitchFamily="34" charset="0"/>
                        </a:rPr>
                        <a:t>B (bet) = Father’s House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20161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24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ת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Tav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Mark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 mark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 indicator </a:t>
                      </a:r>
                      <a:br>
                        <a:rPr lang="en-US" sz="1000" b="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000" b="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Strength</a:t>
                      </a:r>
                      <a:endParaRPr lang="en-US" sz="1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Tav (H8420): mark</a:t>
                      </a:r>
                      <a:br>
                        <a:rPr lang="en-US" sz="1000">
                          <a:solidFill>
                            <a:srgbClr val="22222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Writing (“katab” in Hebrew) is a picture of the hand marking the inside of something.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 (kaf) = hand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 (tav) = mark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 (bet) = inside</a:t>
                      </a:r>
                    </a:p>
                  </a:txBody>
                  <a:tcPr marL="68580" marR="68580" marT="18288" marB="18288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5888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83E87FA-7DCE-93EA-A71D-7FD344E1B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" y="1020762"/>
            <a:ext cx="318495" cy="414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C44FE1-7D3B-3071-4DC0-AF9DA750F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57" y="1837900"/>
            <a:ext cx="276523" cy="2888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D2BAF1-C374-EDE6-0DA5-FABA499E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33" y="2509323"/>
            <a:ext cx="227144" cy="259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4E229E-BD2F-49C7-F166-6C27A0E13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15" y="3328777"/>
            <a:ext cx="212330" cy="2345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2AC8BA-FB30-1AE0-3E37-7CC2E40BB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415" y="4165685"/>
            <a:ext cx="249365" cy="2518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A2F43A-BF7C-EA71-F1F2-F9D6AFDDD0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609" y="4999399"/>
            <a:ext cx="350592" cy="2518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5E07432-952D-4034-1B96-99F9AA2DBF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415" y="5787710"/>
            <a:ext cx="288868" cy="3135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216E65-4DBC-B4EB-9902-8A2BBEEA7C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095" y="1061821"/>
            <a:ext cx="411575" cy="2833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AD23B92-7CB6-92C7-AB10-0A2071FD6D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560" y="1783670"/>
            <a:ext cx="533002" cy="2324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8C54CE9-0EE5-3282-EE1E-938C89CDFA5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1795" r="13504"/>
          <a:stretch/>
        </p:blipFill>
        <p:spPr>
          <a:xfrm>
            <a:off x="344259" y="2523642"/>
            <a:ext cx="463325" cy="2491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301F7D-9AD0-F089-CFD1-62D8256F817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" r="3635" b="-1"/>
          <a:stretch/>
        </p:blipFill>
        <p:spPr>
          <a:xfrm>
            <a:off x="345374" y="3362869"/>
            <a:ext cx="509493" cy="16636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90508E-6473-4F94-6AFE-2B345D6FE7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223" y="4087917"/>
            <a:ext cx="420748" cy="3643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DDBFC9-1D2D-EC8E-DFBD-CF8B9172ABA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8222" y="5011139"/>
            <a:ext cx="339992" cy="22835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046AD60-6F62-F0C4-840F-EEE8C9EB48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304" y="5715280"/>
            <a:ext cx="257325" cy="3859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25236E-DA7E-2699-A974-1D78EEFA659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778" b="89778" l="7752" r="91473">
                        <a14:foregroundMark x1="81008" y1="51111" x2="81008" y2="51111"/>
                        <a14:foregroundMark x1="7752" y1="61333" x2="7752" y2="61333"/>
                        <a14:foregroundMark x1="91473" y1="57333" x2="91473" y2="5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90971" y="1977511"/>
            <a:ext cx="314847" cy="1372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E52EC-98F8-0AB0-B418-30E42ADD25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726" b="95262" l="9607" r="89520">
                        <a14:foregroundMark x1="72489" y1="38155" x2="72489" y2="38155"/>
                        <a14:foregroundMark x1="75983" y1="37656" x2="75983" y2="37656"/>
                        <a14:foregroundMark x1="49782" y1="92269" x2="49782" y2="92269"/>
                        <a14:foregroundMark x1="45852" y1="95262" x2="45852" y2="952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29912" y="1866827"/>
            <a:ext cx="161059" cy="282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B9BE21-02F5-5A04-2E0B-F766DD31DD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>
                        <a14:foregroundMark x1="75000" y1="53061" x2="75000" y2="53061"/>
                        <a14:foregroundMark x1="61990" y1="30867" x2="61990" y2="30867"/>
                        <a14:foregroundMark x1="50255" y1="45408" x2="50255" y2="45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6723" y="1173413"/>
            <a:ext cx="266066" cy="2660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22B375-46E4-98E6-9C3E-2C4DE0F87CD0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4507" r="90501"/>
                    </a14:imgEffect>
                  </a14:imgLayer>
                </a14:imgProps>
              </a:ext>
            </a:extLst>
          </a:blip>
          <a:srcRect l="5008"/>
          <a:stretch/>
        </p:blipFill>
        <p:spPr>
          <a:xfrm>
            <a:off x="8092004" y="1216665"/>
            <a:ext cx="328531" cy="216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BEC75B-F295-765E-E4E8-D496AB80D1B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9864" b="89796" l="6792" r="89930">
                        <a14:foregroundMark x1="9133" y1="64286" x2="9133" y2="64286"/>
                        <a14:foregroundMark x1="6792" y1="55102" x2="6792" y2="55102"/>
                        <a14:foregroundMark x1="12646" y1="48299" x2="12646" y2="482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4823" y="1225447"/>
            <a:ext cx="289474" cy="1993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6A44EC-FABD-AC19-9B9C-8B50C41E6E92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4507" r="90501"/>
                    </a14:imgEffect>
                  </a14:imgLayer>
                </a14:imgProps>
              </a:ext>
            </a:extLst>
          </a:blip>
          <a:srcRect l="5008"/>
          <a:stretch/>
        </p:blipFill>
        <p:spPr>
          <a:xfrm>
            <a:off x="7918284" y="4237048"/>
            <a:ext cx="330103" cy="2179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7F9247-7188-4014-003A-3AAAD4F140F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7604" y="4236464"/>
            <a:ext cx="196178" cy="2402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E3531D-FF8E-BE88-739A-819DBF0E6F95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4537" b="29126" l="61402" r="727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8135228" y="5115073"/>
            <a:ext cx="224857" cy="1933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ADBE0-5B09-3EE8-BCF5-9C9A934271C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8955" r="89801">
                        <a14:foregroundMark x1="8955" y1="33333" x2="8955" y2="3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53467" y="5128125"/>
            <a:ext cx="250160" cy="1680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B2CD45-2172-163F-AEB8-619CF634E97B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4537" b="29126" l="61402" r="727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88" t="12713" r="25874" b="69050"/>
          <a:stretch/>
        </p:blipFill>
        <p:spPr>
          <a:xfrm>
            <a:off x="7995429" y="5945997"/>
            <a:ext cx="218238" cy="187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1DFA24E-7547-1492-70DF-F602E81BBF9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726" b="95262" l="9607" r="89520">
                        <a14:foregroundMark x1="72489" y1="38155" x2="72489" y2="38155"/>
                        <a14:foregroundMark x1="75983" y1="37656" x2="75983" y2="37656"/>
                        <a14:foregroundMark x1="49782" y1="92269" x2="49782" y2="92269"/>
                        <a14:foregroundMark x1="45852" y1="95262" x2="45852" y2="952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13667" y="5840223"/>
            <a:ext cx="161059" cy="2820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00288E-A29B-A29E-8FD2-1D6CE701FE9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>
                        <a14:foregroundMark x1="35909" y1="89688" x2="35909" y2="89688"/>
                        <a14:foregroundMark x1="49091" y1="70625" x2="49091" y2="70625"/>
                        <a14:foregroundMark x1="71364" y1="61250" x2="71364" y2="61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8179" y="5918572"/>
            <a:ext cx="251205" cy="182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63AF2B-FD34-A678-B546-1F5BF5044E25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948" b="89529" l="5437" r="90774">
                        <a14:foregroundMark x1="5601" y1="45026" x2="5601" y2="45026"/>
                        <a14:foregroundMark x1="90774" y1="43455" x2="90774" y2="43455"/>
                      </a14:backgroundRemoval>
                    </a14:imgEffect>
                  </a14:imgLayer>
                </a14:imgProps>
              </a:ext>
            </a:extLst>
          </a:blip>
          <a:srcRect t="1" r="3635" b="-1"/>
          <a:stretch/>
        </p:blipFill>
        <p:spPr>
          <a:xfrm>
            <a:off x="8176214" y="3428589"/>
            <a:ext cx="509493" cy="166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D3577-0028-DA71-8844-E431B5739A3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8468" y="3385378"/>
            <a:ext cx="224699" cy="24028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0B16E2-9FEB-DD57-9E6A-70CCC1B1AD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80894" y="3420288"/>
            <a:ext cx="183678" cy="18486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47D095-5CB8-6958-97ED-F5D69720B4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48372" y="2553087"/>
            <a:ext cx="196178" cy="24028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90468A8-02AB-7157-7A7B-529D87B790CE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ackgroundRemoval t="9362" b="89362" l="16923" r="81538">
                        <a14:foregroundMark x1="17094" y1="44681" x2="17094" y2="44681"/>
                        <a14:foregroundMark x1="81538" y1="61702" x2="81538" y2="61702"/>
                      </a14:backgroundRemoval>
                    </a14:imgEffect>
                  </a14:imgLayer>
                </a14:imgProps>
              </a:ext>
            </a:extLst>
          </a:blip>
          <a:srcRect l="11795" r="13504"/>
          <a:stretch/>
        </p:blipFill>
        <p:spPr>
          <a:xfrm>
            <a:off x="8257604" y="2592462"/>
            <a:ext cx="361905" cy="19461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159829-D3D5-F718-6779-1102DD211AF3}"/>
              </a:ext>
            </a:extLst>
          </p:cNvPr>
          <p:cNvSpPr txBox="1"/>
          <p:nvPr/>
        </p:nvSpPr>
        <p:spPr>
          <a:xfrm>
            <a:off x="304800" y="6423195"/>
            <a:ext cx="85629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Free Download at www.fathersalphabet.com        Public Domain | Page 3          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F36337B-7E4E-F696-2BB3-D23E70787E1A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75" y="6466681"/>
            <a:ext cx="156096" cy="1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57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284</TotalTime>
  <Words>1355</Words>
  <Application>Microsoft Office PowerPoint</Application>
  <PresentationFormat>Letter Paper (8.5x11 in)</PresentationFormat>
  <Paragraphs>285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</dc:creator>
  <cp:lastModifiedBy>MD</cp:lastModifiedBy>
  <cp:revision>153</cp:revision>
  <cp:lastPrinted>2023-06-07T22:14:13Z</cp:lastPrinted>
  <dcterms:created xsi:type="dcterms:W3CDTF">2023-05-16T00:14:25Z</dcterms:created>
  <dcterms:modified xsi:type="dcterms:W3CDTF">2024-05-31T08:02:14Z</dcterms:modified>
</cp:coreProperties>
</file>